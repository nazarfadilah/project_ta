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689336" cy="1512417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89336" cy="15124176"/>
          </a:xfrm>
          <a:prstGeom prst="rect">
            <a:avLst/>
          </a:prstGeom>
          <a:solidFill>
            <a:srgbClr val="0B0A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74320"/>
            <a:ext cx="10140696" cy="14575536"/>
          </a:xfrm>
          <a:prstGeom prst="rect">
            <a:avLst/>
          </a:prstGeom>
          <a:noFill/>
          <a:ln w="44450">
            <a:solidFill>
              <a:srgbClr val="C9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365760"/>
            <a:ext cx="9957816" cy="14392656"/>
          </a:xfrm>
          <a:prstGeom prst="roundRect">
            <a:avLst/>
          </a:prstGeom>
          <a:noFill/>
          <a:ln w="19050">
            <a:solidFill>
              <a:srgbClr val="B895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94360"/>
            <a:ext cx="6675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3E5C8"/>
                </a:solidFill>
                <a:latin typeface="Outfit"/>
              </a:defRPr>
            </a:pPr>
            <a:r>
              <a:t>PANDUAN DIGITAL RESMI  •  🌐 siprasa.asramahajibdj.com</a:t>
            </a:r>
          </a:p>
          <a:p>
            <a:pPr>
              <a:spcAft>
                <a:spcPts val="800"/>
              </a:spcAft>
              <a:defRPr sz="3200" b="1">
                <a:solidFill>
                  <a:srgbClr val="C9A961"/>
                </a:solidFill>
                <a:latin typeface="Georgia"/>
              </a:defRPr>
            </a:pPr>
            <a:r>
              <a:t>SIPRASA - PEMINJAMAN SARANA &amp; PRASARANA</a:t>
            </a:r>
          </a:p>
          <a:p>
            <a:pPr>
              <a:defRPr sz="1400">
                <a:solidFill>
                  <a:srgbClr val="F7F3E9"/>
                </a:solidFill>
                <a:latin typeface="Outfit"/>
              </a:defRPr>
            </a:pPr>
            <a:r>
              <a:t>Layanan Peminjaman Gedung, Ruang Rapat, Penginapan, &amp; Alat Acara UPTD Asrama Haji Kelas I Banjarmasin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79" y="594360"/>
            <a:ext cx="2468880" cy="1463040"/>
          </a:xfrm>
          <a:prstGeom prst="roundRect">
            <a:avLst/>
          </a:prstGeom>
          <a:solidFill>
            <a:srgbClr val="18140E"/>
          </a:solidFill>
          <a:ln w="19050">
            <a:solidFill>
              <a:srgbClr val="C9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731520"/>
            <a:ext cx="960120" cy="963960"/>
          </a:xfrm>
          <a:prstGeom prst="rect">
            <a:avLst/>
          </a:prstGeom>
        </p:spPr>
      </p:pic>
      <p:pic>
        <p:nvPicPr>
          <p:cNvPr id="8" name="Picture 7" descr="logo polib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3960" y="731520"/>
            <a:ext cx="960120" cy="95051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8079" y="1691640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3E5C8"/>
                </a:solidFill>
              </a:defRPr>
            </a:pPr>
            <a:r>
              <a:t>SIPRASA  •  POLIBAN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514600"/>
            <a:ext cx="2999232" cy="1280160"/>
          </a:xfrm>
          <a:prstGeom prst="roundRect">
            <a:avLst/>
          </a:prstGeom>
          <a:solidFill>
            <a:srgbClr val="18140E"/>
          </a:solidFill>
          <a:ln w="19050">
            <a:solidFill>
              <a:srgbClr val="B895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587752"/>
            <a:ext cx="2816352" cy="113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F3E5C8"/>
                </a:solidFill>
              </a:defRPr>
            </a:pPr>
            <a:r>
              <a:t>APA ITU SIPRASA?</a:t>
            </a:r>
          </a:p>
          <a:p>
            <a:pPr>
              <a:defRPr sz="1100">
                <a:solidFill>
                  <a:srgbClr val="F7F3E9"/>
                </a:solidFill>
              </a:defRPr>
            </a:pPr>
            <a:r>
              <a:t>Sistem Informasi Digital UPTD Asrama Haji Banjarmasin untuk pengelolaan layanan peminjaman sarana &amp; prasarana secara terintegrasi.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40480" y="2514600"/>
            <a:ext cx="2999232" cy="1280160"/>
          </a:xfrm>
          <a:prstGeom prst="roundRect">
            <a:avLst/>
          </a:prstGeom>
          <a:solidFill>
            <a:srgbClr val="18140E"/>
          </a:solidFill>
          <a:ln w="19050">
            <a:solidFill>
              <a:srgbClr val="B895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31920" y="2587752"/>
            <a:ext cx="2816352" cy="113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F3E5C8"/>
                </a:solidFill>
              </a:defRPr>
            </a:pPr>
            <a:r>
              <a:t>DIGUNAKAN UNTUK APA?</a:t>
            </a:r>
          </a:p>
          <a:p>
            <a:pPr>
              <a:defRPr sz="1100">
                <a:solidFill>
                  <a:srgbClr val="F7F3E9"/>
                </a:solidFill>
              </a:defRPr>
            </a:pPr>
            <a:r>
              <a:t>Reservasi sewa Gedung Utama, Ruang Rapat, Penginapan, &amp; Peralatan Acara (Sound System, LCD Proyektor, &amp; Kursi Tambahan).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514600"/>
            <a:ext cx="2999232" cy="1280160"/>
          </a:xfrm>
          <a:prstGeom prst="roundRect">
            <a:avLst/>
          </a:prstGeom>
          <a:solidFill>
            <a:srgbClr val="18140E"/>
          </a:solidFill>
          <a:ln w="19050">
            <a:solidFill>
              <a:srgbClr val="B895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0" y="2587752"/>
            <a:ext cx="2816352" cy="113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F3E5C8"/>
                </a:solidFill>
              </a:defRPr>
            </a:pPr>
            <a:r>
              <a:t>KEUNGGULAN UTAMA</a:t>
            </a:r>
          </a:p>
          <a:p>
            <a:pPr>
              <a:defRPr sz="1100">
                <a:solidFill>
                  <a:srgbClr val="F7F3E9"/>
                </a:solidFill>
              </a:defRPr>
            </a:pPr>
            <a:r>
              <a:t>• ⚡ Jadwal Real-Time Bebas Bentrok</a:t>
            </a:r>
            <a:br/>
            <a:r>
              <a:t>• 🛡️ Safe OTP Email &amp; Captcha</a:t>
            </a:r>
            <a:br/>
            <a:r>
              <a:t>• 📄 Cetak Invoice PDF Resmi &amp; Ulasan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931920"/>
            <a:ext cx="940917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3E5C8"/>
                </a:solidFill>
              </a:defRPr>
            </a:pPr>
            <a:r>
              <a:t>───  8 LANGKAH ALUR PEMINJAMAN  ───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480560"/>
            <a:ext cx="2148840" cy="4297680"/>
          </a:xfrm>
          <a:prstGeom prst="roundRect">
            <a:avLst/>
          </a:prstGeom>
          <a:solidFill>
            <a:srgbClr val="18140E"/>
          </a:solidFill>
          <a:ln w="19050">
            <a:solidFill>
              <a:srgbClr val="B895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49808" y="4590288"/>
            <a:ext cx="548640" cy="548640"/>
          </a:xfrm>
          <a:prstGeom prst="ellipse">
            <a:avLst/>
          </a:prstGeom>
          <a:solidFill>
            <a:srgbClr val="C9A961"/>
          </a:solidFill>
          <a:ln>
            <a:solidFill>
              <a:srgbClr val="0B0A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00000"/>
                </a:solidFill>
              </a:defRPr>
            </a:pPr>
            <a:r>
              <a:t>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5257800"/>
            <a:ext cx="1929384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3E5C8"/>
                </a:solidFill>
              </a:defRPr>
            </a:pPr>
            <a:r>
              <a:t>Registrasi Akun</a:t>
            </a:r>
          </a:p>
          <a:p>
            <a:pPr>
              <a:defRPr sz="1300">
                <a:solidFill>
                  <a:srgbClr val="CBD2D9"/>
                </a:solidFill>
              </a:defRPr>
            </a:pPr>
            <a:r>
              <a:t>Buka web SIPRASA, klik Daftar, lalu isi email, nama lengkap, dan password akun baru Anda.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063240" y="4480560"/>
            <a:ext cx="2148840" cy="4297680"/>
          </a:xfrm>
          <a:prstGeom prst="roundRect">
            <a:avLst/>
          </a:prstGeom>
          <a:solidFill>
            <a:srgbClr val="18140E"/>
          </a:solidFill>
          <a:ln w="19050">
            <a:solidFill>
              <a:srgbClr val="B895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172968" y="4590288"/>
            <a:ext cx="548640" cy="548640"/>
          </a:xfrm>
          <a:prstGeom prst="ellipse">
            <a:avLst/>
          </a:prstGeom>
          <a:solidFill>
            <a:srgbClr val="C9A961"/>
          </a:solidFill>
          <a:ln>
            <a:solidFill>
              <a:srgbClr val="0B0A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00000"/>
                </a:solidFill>
              </a:defRPr>
            </a:pPr>
            <a: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72968" y="5257800"/>
            <a:ext cx="1929384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3E5C8"/>
                </a:solidFill>
              </a:defRPr>
            </a:pPr>
            <a:r>
              <a:t>Verifikasi &amp; Login</a:t>
            </a:r>
          </a:p>
          <a:p>
            <a:pPr>
              <a:defRPr sz="1300">
                <a:solidFill>
                  <a:srgbClr val="CBD2D9"/>
                </a:solidFill>
              </a:defRPr>
            </a:pPr>
            <a:r>
              <a:t>Input 6-digit kode OTP dari email, masukkan Captcha visual, lalu masuk ke Dashboard Utama.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0" y="4480560"/>
            <a:ext cx="2148840" cy="4297680"/>
          </a:xfrm>
          <a:prstGeom prst="roundRect">
            <a:avLst/>
          </a:prstGeom>
          <a:solidFill>
            <a:srgbClr val="18140E"/>
          </a:solidFill>
          <a:ln w="19050">
            <a:solidFill>
              <a:srgbClr val="B895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596128" y="4590288"/>
            <a:ext cx="548640" cy="548640"/>
          </a:xfrm>
          <a:prstGeom prst="ellipse">
            <a:avLst/>
          </a:prstGeom>
          <a:solidFill>
            <a:srgbClr val="C9A961"/>
          </a:solidFill>
          <a:ln>
            <a:solidFill>
              <a:srgbClr val="0B0A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00000"/>
                </a:solidFill>
              </a:defRPr>
            </a:pPr>
            <a: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96128" y="5257800"/>
            <a:ext cx="1929384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3E5C8"/>
                </a:solidFill>
              </a:defRPr>
            </a:pPr>
            <a:r>
              <a:t>Lengkapi Profil</a:t>
            </a:r>
          </a:p>
          <a:p>
            <a:pPr>
              <a:defRPr sz="1300">
                <a:solidFill>
                  <a:srgbClr val="CBD2D9"/>
                </a:solidFill>
              </a:defRPr>
            </a:pPr>
            <a:r>
              <a:t>Isi identitas diri (KTP/KTM), nama instansi/organisasi, nomor WhatsApp, &amp; foto profil pengguna.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09560" y="4480560"/>
            <a:ext cx="2148840" cy="4297680"/>
          </a:xfrm>
          <a:prstGeom prst="roundRect">
            <a:avLst/>
          </a:prstGeom>
          <a:solidFill>
            <a:srgbClr val="18140E"/>
          </a:solidFill>
          <a:ln w="19050">
            <a:solidFill>
              <a:srgbClr val="B895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019288" y="4590288"/>
            <a:ext cx="548640" cy="548640"/>
          </a:xfrm>
          <a:prstGeom prst="ellipse">
            <a:avLst/>
          </a:prstGeom>
          <a:solidFill>
            <a:srgbClr val="C9A961"/>
          </a:solidFill>
          <a:ln>
            <a:solidFill>
              <a:srgbClr val="0B0A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00000"/>
                </a:solidFill>
              </a:defRPr>
            </a:pPr>
            <a: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19288" y="5257800"/>
            <a:ext cx="1929384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3E5C8"/>
                </a:solidFill>
              </a:defRPr>
            </a:pPr>
            <a:r>
              <a:t>Pilih Fasilitas</a:t>
            </a:r>
          </a:p>
          <a:p>
            <a:pPr>
              <a:defRPr sz="1300">
                <a:solidFill>
                  <a:srgbClr val="CBD2D9"/>
                </a:solidFill>
              </a:defRPr>
            </a:pPr>
            <a:r>
              <a:t>Pilih Ruangan/Sarana, periksa detail tarif sewa, serta Kalender Ketersediaan Real-time.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9006840"/>
            <a:ext cx="2148840" cy="4297680"/>
          </a:xfrm>
          <a:prstGeom prst="roundRect">
            <a:avLst/>
          </a:prstGeom>
          <a:solidFill>
            <a:srgbClr val="18140E"/>
          </a:solidFill>
          <a:ln w="19050">
            <a:solidFill>
              <a:srgbClr val="B895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49808" y="9116568"/>
            <a:ext cx="548640" cy="548640"/>
          </a:xfrm>
          <a:prstGeom prst="ellipse">
            <a:avLst/>
          </a:prstGeom>
          <a:solidFill>
            <a:srgbClr val="C9A961"/>
          </a:solidFill>
          <a:ln>
            <a:solidFill>
              <a:srgbClr val="0B0A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00000"/>
                </a:solidFill>
              </a:defRPr>
            </a:pPr>
            <a: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8" y="9784080"/>
            <a:ext cx="1929384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3E5C8"/>
                </a:solidFill>
              </a:defRPr>
            </a:pPr>
            <a:r>
              <a:t>Isi Reservasi</a:t>
            </a:r>
          </a:p>
          <a:p>
            <a:pPr>
              <a:defRPr sz="1300">
                <a:solidFill>
                  <a:srgbClr val="CBD2D9"/>
                </a:solidFill>
              </a:defRPr>
            </a:pPr>
            <a:r>
              <a:t>Tentukan tanggal &amp; jam sewa, keperluan acara, jumlah peserta, &amp; sarana tambahan (Sound/LCD/Kursi).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063240" y="9006840"/>
            <a:ext cx="2148840" cy="4297680"/>
          </a:xfrm>
          <a:prstGeom prst="roundRect">
            <a:avLst/>
          </a:prstGeom>
          <a:solidFill>
            <a:srgbClr val="18140E"/>
          </a:solidFill>
          <a:ln w="19050">
            <a:solidFill>
              <a:srgbClr val="B895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3172968" y="9116568"/>
            <a:ext cx="548640" cy="548640"/>
          </a:xfrm>
          <a:prstGeom prst="ellipse">
            <a:avLst/>
          </a:prstGeom>
          <a:solidFill>
            <a:srgbClr val="C9A961"/>
          </a:solidFill>
          <a:ln>
            <a:solidFill>
              <a:srgbClr val="0B0A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00000"/>
                </a:solidFill>
              </a:defRPr>
            </a:pPr>
            <a: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72968" y="9784080"/>
            <a:ext cx="1929384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3E5C8"/>
                </a:solidFill>
              </a:defRPr>
            </a:pPr>
            <a:r>
              <a:t>Persetujuan Admin</a:t>
            </a:r>
          </a:p>
          <a:p>
            <a:pPr>
              <a:defRPr sz="1300">
                <a:solidFill>
                  <a:srgbClr val="CBD2D9"/>
                </a:solidFill>
              </a:defRPr>
            </a:pPr>
            <a:r>
              <a:t>Admin memverifikasi permohonan. Jika disetujui, Invoice &amp; Surat Izin resmi diterbitkan sistem.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0" y="9006840"/>
            <a:ext cx="2148840" cy="4297680"/>
          </a:xfrm>
          <a:prstGeom prst="roundRect">
            <a:avLst/>
          </a:prstGeom>
          <a:solidFill>
            <a:srgbClr val="18140E"/>
          </a:solidFill>
          <a:ln w="19050">
            <a:solidFill>
              <a:srgbClr val="B895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596128" y="9116568"/>
            <a:ext cx="548640" cy="548640"/>
          </a:xfrm>
          <a:prstGeom prst="ellipse">
            <a:avLst/>
          </a:prstGeom>
          <a:solidFill>
            <a:srgbClr val="C9A961"/>
          </a:solidFill>
          <a:ln>
            <a:solidFill>
              <a:srgbClr val="0B0A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00000"/>
                </a:solidFill>
              </a:defRPr>
            </a:pPr>
            <a:r>
              <a:t>07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96128" y="9784080"/>
            <a:ext cx="1929384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3E5C8"/>
                </a:solidFill>
              </a:defRPr>
            </a:pPr>
            <a:r>
              <a:t>Check-in &amp; Bayar</a:t>
            </a:r>
          </a:p>
          <a:p>
            <a:pPr>
              <a:defRPr sz="1300">
                <a:solidFill>
                  <a:srgbClr val="CBD2D9"/>
                </a:solidFill>
              </a:defRPr>
            </a:pPr>
            <a:r>
              <a:t>Inspeksi fisik awal lokasi bersama Petugas, lalu pelunasan biaya peminjaman langsung di tempat (On-Site).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909560" y="9006840"/>
            <a:ext cx="2148840" cy="4297680"/>
          </a:xfrm>
          <a:prstGeom prst="roundRect">
            <a:avLst/>
          </a:prstGeom>
          <a:solidFill>
            <a:srgbClr val="18140E"/>
          </a:solidFill>
          <a:ln w="19050">
            <a:solidFill>
              <a:srgbClr val="B895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019288" y="9116568"/>
            <a:ext cx="548640" cy="548640"/>
          </a:xfrm>
          <a:prstGeom prst="ellipse">
            <a:avLst/>
          </a:prstGeom>
          <a:solidFill>
            <a:srgbClr val="C9A961"/>
          </a:solidFill>
          <a:ln>
            <a:solidFill>
              <a:srgbClr val="0B0A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00000"/>
                </a:solidFill>
              </a:defRPr>
            </a:pPr>
            <a:r>
              <a:t>08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19288" y="9784080"/>
            <a:ext cx="1929384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3E5C8"/>
                </a:solidFill>
              </a:defRPr>
            </a:pPr>
            <a:r>
              <a:t>Check-out &amp; Ulasan</a:t>
            </a:r>
          </a:p>
          <a:p>
            <a:pPr>
              <a:defRPr sz="1300">
                <a:solidFill>
                  <a:srgbClr val="CBD2D9"/>
                </a:solidFill>
              </a:defRPr>
            </a:pPr>
            <a:r>
              <a:t>Pemeriksaan pengembalian sarana, lalu berikan Rating Bintang ⭐ &amp; Ulasan pengalaman Anda.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13716000"/>
            <a:ext cx="9409176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7F3E9"/>
                </a:solidFill>
              </a:defRPr>
            </a:pPr>
            <a:r>
              <a:t>📍 Jl. Jend. A. Yani Km 28, Landasan Ulin, Banjarbaru   |   📞 WA: +62 812-3456-7890   |   🌐 Web: siprasa.asramahajibdj.com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